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F3506F-A2E7-4AD9-82F1-9C7983FA6EFE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325F03C-D799-497B-8B28-3DBD7BA2F56B}">
      <dgm:prSet/>
      <dgm:spPr/>
      <dgm:t>
        <a:bodyPr/>
        <a:lstStyle/>
        <a:p>
          <a:r>
            <a:rPr lang="pt-BR" dirty="0"/>
            <a:t>•William Bitencourt de Castro - 12723115263</a:t>
          </a:r>
          <a:endParaRPr lang="en-US" dirty="0"/>
        </a:p>
      </dgm:t>
    </dgm:pt>
    <dgm:pt modelId="{2B633D3D-8BE6-478C-BA28-B536FCAC86AB}" type="parTrans" cxnId="{179945AD-FEAD-4B85-8E1B-30934781041F}">
      <dgm:prSet/>
      <dgm:spPr/>
      <dgm:t>
        <a:bodyPr/>
        <a:lstStyle/>
        <a:p>
          <a:endParaRPr lang="en-US"/>
        </a:p>
      </dgm:t>
    </dgm:pt>
    <dgm:pt modelId="{76044737-9BFD-40A1-9ADA-8DD90CD68366}" type="sibTrans" cxnId="{179945AD-FEAD-4B85-8E1B-30934781041F}">
      <dgm:prSet/>
      <dgm:spPr/>
      <dgm:t>
        <a:bodyPr/>
        <a:lstStyle/>
        <a:p>
          <a:endParaRPr lang="en-US"/>
        </a:p>
      </dgm:t>
    </dgm:pt>
    <dgm:pt modelId="{09707292-75CF-4F48-82A5-EDEFC1C619B4}">
      <dgm:prSet/>
      <dgm:spPr/>
      <dgm:t>
        <a:bodyPr/>
        <a:lstStyle/>
        <a:p>
          <a:r>
            <a:rPr lang="pt-BR" dirty="0"/>
            <a:t>•Marcos </a:t>
          </a:r>
          <a:r>
            <a:rPr lang="pt-BR" dirty="0" err="1"/>
            <a:t>Leones</a:t>
          </a:r>
          <a:r>
            <a:rPr lang="pt-BR" dirty="0"/>
            <a:t> Leite Souza – 1272312642</a:t>
          </a:r>
          <a:endParaRPr lang="en-US" dirty="0"/>
        </a:p>
      </dgm:t>
    </dgm:pt>
    <dgm:pt modelId="{9472EFB1-798B-42A2-BBE8-96F51F1A078E}" type="parTrans" cxnId="{DBACC866-6B6D-4D32-9165-CCE080815476}">
      <dgm:prSet/>
      <dgm:spPr/>
      <dgm:t>
        <a:bodyPr/>
        <a:lstStyle/>
        <a:p>
          <a:endParaRPr lang="en-US"/>
        </a:p>
      </dgm:t>
    </dgm:pt>
    <dgm:pt modelId="{7FFBEA4D-D510-4166-BD06-D54E754CE16A}" type="sibTrans" cxnId="{DBACC866-6B6D-4D32-9165-CCE080815476}">
      <dgm:prSet/>
      <dgm:spPr/>
      <dgm:t>
        <a:bodyPr/>
        <a:lstStyle/>
        <a:p>
          <a:endParaRPr lang="en-US"/>
        </a:p>
      </dgm:t>
    </dgm:pt>
    <dgm:pt modelId="{AA56C9AC-D80A-46DD-9B9F-455781498190}">
      <dgm:prSet/>
      <dgm:spPr/>
      <dgm:t>
        <a:bodyPr/>
        <a:lstStyle/>
        <a:p>
          <a:r>
            <a:rPr lang="pt-BR" dirty="0"/>
            <a:t>•Adailson Souza da Cunha - 1272319876</a:t>
          </a:r>
          <a:endParaRPr lang="en-US" dirty="0"/>
        </a:p>
      </dgm:t>
    </dgm:pt>
    <dgm:pt modelId="{50C40062-75A9-4353-981F-9204BA9CE22F}" type="parTrans" cxnId="{B4BE5937-3D1E-435C-A8FF-2F2F811C66CF}">
      <dgm:prSet/>
      <dgm:spPr/>
      <dgm:t>
        <a:bodyPr/>
        <a:lstStyle/>
        <a:p>
          <a:endParaRPr lang="en-US"/>
        </a:p>
      </dgm:t>
    </dgm:pt>
    <dgm:pt modelId="{8E7ECB35-C2EB-4FE2-8598-01BB8069F25B}" type="sibTrans" cxnId="{B4BE5937-3D1E-435C-A8FF-2F2F811C66CF}">
      <dgm:prSet/>
      <dgm:spPr/>
      <dgm:t>
        <a:bodyPr/>
        <a:lstStyle/>
        <a:p>
          <a:endParaRPr lang="en-US"/>
        </a:p>
      </dgm:t>
    </dgm:pt>
    <dgm:pt modelId="{78BF67A2-687C-4485-8CD4-D697553F4C28}" type="pres">
      <dgm:prSet presAssocID="{8CF3506F-A2E7-4AD9-82F1-9C7983FA6EFE}" presName="linear" presStyleCnt="0">
        <dgm:presLayoutVars>
          <dgm:animLvl val="lvl"/>
          <dgm:resizeHandles val="exact"/>
        </dgm:presLayoutVars>
      </dgm:prSet>
      <dgm:spPr/>
    </dgm:pt>
    <dgm:pt modelId="{6BEAC235-FCFF-4120-8979-C965174D0053}" type="pres">
      <dgm:prSet presAssocID="{6325F03C-D799-497B-8B28-3DBD7BA2F56B}" presName="parentText" presStyleLbl="node1" presStyleIdx="0" presStyleCnt="3" custLinFactNeighborX="-8498" custLinFactNeighborY="-21108">
        <dgm:presLayoutVars>
          <dgm:chMax val="0"/>
          <dgm:bulletEnabled val="1"/>
        </dgm:presLayoutVars>
      </dgm:prSet>
      <dgm:spPr/>
    </dgm:pt>
    <dgm:pt modelId="{502C364A-66B5-40E2-A2A3-F96CD357161B}" type="pres">
      <dgm:prSet presAssocID="{76044737-9BFD-40A1-9ADA-8DD90CD68366}" presName="spacer" presStyleCnt="0"/>
      <dgm:spPr/>
    </dgm:pt>
    <dgm:pt modelId="{87725599-7BB0-4784-BF8C-8FB104580ABB}" type="pres">
      <dgm:prSet presAssocID="{09707292-75CF-4F48-82A5-EDEFC1C619B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0EEA9B-0FA4-4598-8908-B5DB27C6FB25}" type="pres">
      <dgm:prSet presAssocID="{7FFBEA4D-D510-4166-BD06-D54E754CE16A}" presName="spacer" presStyleCnt="0"/>
      <dgm:spPr/>
    </dgm:pt>
    <dgm:pt modelId="{E6DF6560-90AA-4F08-BC29-9AFE5AB039EE}" type="pres">
      <dgm:prSet presAssocID="{AA56C9AC-D80A-46DD-9B9F-45578149819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4B2E707-C107-4D62-B030-C0D3E444C00E}" type="presOf" srcId="{8CF3506F-A2E7-4AD9-82F1-9C7983FA6EFE}" destId="{78BF67A2-687C-4485-8CD4-D697553F4C28}" srcOrd="0" destOrd="0" presId="urn:microsoft.com/office/officeart/2005/8/layout/vList2"/>
    <dgm:cxn modelId="{B4BE5937-3D1E-435C-A8FF-2F2F811C66CF}" srcId="{8CF3506F-A2E7-4AD9-82F1-9C7983FA6EFE}" destId="{AA56C9AC-D80A-46DD-9B9F-455781498190}" srcOrd="2" destOrd="0" parTransId="{50C40062-75A9-4353-981F-9204BA9CE22F}" sibTransId="{8E7ECB35-C2EB-4FE2-8598-01BB8069F25B}"/>
    <dgm:cxn modelId="{DBACC866-6B6D-4D32-9165-CCE080815476}" srcId="{8CF3506F-A2E7-4AD9-82F1-9C7983FA6EFE}" destId="{09707292-75CF-4F48-82A5-EDEFC1C619B4}" srcOrd="1" destOrd="0" parTransId="{9472EFB1-798B-42A2-BBE8-96F51F1A078E}" sibTransId="{7FFBEA4D-D510-4166-BD06-D54E754CE16A}"/>
    <dgm:cxn modelId="{CBD83C75-A008-40E8-BC6A-ECEA0C6B0AED}" type="presOf" srcId="{AA56C9AC-D80A-46DD-9B9F-455781498190}" destId="{E6DF6560-90AA-4F08-BC29-9AFE5AB039EE}" srcOrd="0" destOrd="0" presId="urn:microsoft.com/office/officeart/2005/8/layout/vList2"/>
    <dgm:cxn modelId="{B3C7A294-002D-4FF8-B893-8A486AC8F815}" type="presOf" srcId="{09707292-75CF-4F48-82A5-EDEFC1C619B4}" destId="{87725599-7BB0-4784-BF8C-8FB104580ABB}" srcOrd="0" destOrd="0" presId="urn:microsoft.com/office/officeart/2005/8/layout/vList2"/>
    <dgm:cxn modelId="{179945AD-FEAD-4B85-8E1B-30934781041F}" srcId="{8CF3506F-A2E7-4AD9-82F1-9C7983FA6EFE}" destId="{6325F03C-D799-497B-8B28-3DBD7BA2F56B}" srcOrd="0" destOrd="0" parTransId="{2B633D3D-8BE6-478C-BA28-B536FCAC86AB}" sibTransId="{76044737-9BFD-40A1-9ADA-8DD90CD68366}"/>
    <dgm:cxn modelId="{8BC7F1C8-1927-4690-B112-414504D5BC83}" type="presOf" srcId="{6325F03C-D799-497B-8B28-3DBD7BA2F56B}" destId="{6BEAC235-FCFF-4120-8979-C965174D0053}" srcOrd="0" destOrd="0" presId="urn:microsoft.com/office/officeart/2005/8/layout/vList2"/>
    <dgm:cxn modelId="{D196C9A2-A558-4AE3-BAFB-5A5BF2D445A6}" type="presParOf" srcId="{78BF67A2-687C-4485-8CD4-D697553F4C28}" destId="{6BEAC235-FCFF-4120-8979-C965174D0053}" srcOrd="0" destOrd="0" presId="urn:microsoft.com/office/officeart/2005/8/layout/vList2"/>
    <dgm:cxn modelId="{FC495FA3-0D34-4A00-8742-6348539B14B6}" type="presParOf" srcId="{78BF67A2-687C-4485-8CD4-D697553F4C28}" destId="{502C364A-66B5-40E2-A2A3-F96CD357161B}" srcOrd="1" destOrd="0" presId="urn:microsoft.com/office/officeart/2005/8/layout/vList2"/>
    <dgm:cxn modelId="{48ABD0A3-20A4-4127-BF25-ABD46A6349B3}" type="presParOf" srcId="{78BF67A2-687C-4485-8CD4-D697553F4C28}" destId="{87725599-7BB0-4784-BF8C-8FB104580ABB}" srcOrd="2" destOrd="0" presId="urn:microsoft.com/office/officeart/2005/8/layout/vList2"/>
    <dgm:cxn modelId="{33CEAAA5-2CEF-4AE2-80C6-EF9FDAE4F4DE}" type="presParOf" srcId="{78BF67A2-687C-4485-8CD4-D697553F4C28}" destId="{510EEA9B-0FA4-4598-8908-B5DB27C6FB25}" srcOrd="3" destOrd="0" presId="urn:microsoft.com/office/officeart/2005/8/layout/vList2"/>
    <dgm:cxn modelId="{DC5DED31-5AE9-4171-B28F-E0B6B99843AD}" type="presParOf" srcId="{78BF67A2-687C-4485-8CD4-D697553F4C28}" destId="{E6DF6560-90AA-4F08-BC29-9AFE5AB039E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AC235-FCFF-4120-8979-C965174D0053}">
      <dsp:nvSpPr>
        <dsp:cNvPr id="0" name=""/>
        <dsp:cNvSpPr/>
      </dsp:nvSpPr>
      <dsp:spPr>
        <a:xfrm>
          <a:off x="0" y="701455"/>
          <a:ext cx="8844607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•William Bitencourt de Castro - 12723115263</a:t>
          </a:r>
          <a:endParaRPr lang="en-US" sz="3300" kern="1200" dirty="0"/>
        </a:p>
      </dsp:txBody>
      <dsp:txXfrm>
        <a:off x="38638" y="740093"/>
        <a:ext cx="8767331" cy="714229"/>
      </dsp:txXfrm>
    </dsp:sp>
    <dsp:sp modelId="{87725599-7BB0-4784-BF8C-8FB104580ABB}">
      <dsp:nvSpPr>
        <dsp:cNvPr id="0" name=""/>
        <dsp:cNvSpPr/>
      </dsp:nvSpPr>
      <dsp:spPr>
        <a:xfrm>
          <a:off x="0" y="1608061"/>
          <a:ext cx="8844607" cy="791505"/>
        </a:xfrm>
        <a:prstGeom prst="roundRect">
          <a:avLst/>
        </a:prstGeom>
        <a:solidFill>
          <a:schemeClr val="accent4">
            <a:hueOff val="-510289"/>
            <a:satOff val="-92"/>
            <a:lumOff val="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•Marcos </a:t>
          </a:r>
          <a:r>
            <a:rPr lang="pt-BR" sz="3300" kern="1200" dirty="0" err="1"/>
            <a:t>Leones</a:t>
          </a:r>
          <a:r>
            <a:rPr lang="pt-BR" sz="3300" kern="1200" dirty="0"/>
            <a:t> Leite Souza – 1272312642</a:t>
          </a:r>
          <a:endParaRPr lang="en-US" sz="3300" kern="1200" dirty="0"/>
        </a:p>
      </dsp:txBody>
      <dsp:txXfrm>
        <a:off x="38638" y="1646699"/>
        <a:ext cx="8767331" cy="714229"/>
      </dsp:txXfrm>
    </dsp:sp>
    <dsp:sp modelId="{E6DF6560-90AA-4F08-BC29-9AFE5AB039EE}">
      <dsp:nvSpPr>
        <dsp:cNvPr id="0" name=""/>
        <dsp:cNvSpPr/>
      </dsp:nvSpPr>
      <dsp:spPr>
        <a:xfrm>
          <a:off x="0" y="2494606"/>
          <a:ext cx="8844607" cy="791505"/>
        </a:xfrm>
        <a:prstGeom prst="roundRect">
          <a:avLst/>
        </a:prstGeom>
        <a:solidFill>
          <a:schemeClr val="accent4">
            <a:hueOff val="-1020579"/>
            <a:satOff val="-184"/>
            <a:lumOff val="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•Adailson Souza da Cunha - 1272319876</a:t>
          </a:r>
          <a:endParaRPr lang="en-US" sz="3300" kern="1200" dirty="0"/>
        </a:p>
      </dsp:txBody>
      <dsp:txXfrm>
        <a:off x="38638" y="2533244"/>
        <a:ext cx="8767331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A04E8-89D0-42D7-9CF7-AAEFAC51529A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2D03B-EEA0-4CAD-9ACD-F3A63D90B4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32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2D03B-EEA0-4CAD-9ACD-F3A63D90B4C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63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4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4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3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8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8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72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9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1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9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7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7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12E91-09ED-B616-622F-D4F463FAA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986"/>
          <a:stretch/>
        </p:blipFill>
        <p:spPr>
          <a:xfrm>
            <a:off x="-2" y="1"/>
            <a:ext cx="12191999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983DE6-D5FF-7957-65FD-F6EE40325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 fontScale="90000"/>
          </a:bodyPr>
          <a:lstStyle/>
          <a:p>
            <a:r>
              <a:rPr lang="pt-BR" sz="6000" dirty="0">
                <a:solidFill>
                  <a:srgbClr val="FFFFFF"/>
                </a:solidFill>
              </a:rPr>
              <a:t>Apresentação</a:t>
            </a:r>
            <a:br>
              <a:rPr lang="pt-BR" sz="6000" dirty="0">
                <a:solidFill>
                  <a:srgbClr val="FFFFFF"/>
                </a:solidFill>
              </a:rPr>
            </a:br>
            <a:r>
              <a:rPr lang="pt-BR" sz="6000" dirty="0">
                <a:solidFill>
                  <a:srgbClr val="FFFFFF"/>
                </a:solidFill>
              </a:rPr>
              <a:t>A3 – Usabilidade, Web, Mobile e jogos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FC31B-F9B1-6BF2-58FD-6F518DCE0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3" y="5044230"/>
            <a:ext cx="4782336" cy="1604949"/>
          </a:xfrm>
        </p:spPr>
        <p:txBody>
          <a:bodyPr anchor="t">
            <a:normAutofit fontScale="70000" lnSpcReduction="20000"/>
          </a:bodyPr>
          <a:lstStyle/>
          <a:p>
            <a:r>
              <a:rPr lang="pt-BR" sz="3600" dirty="0"/>
              <a:t>A3 - Aplicativo MVP de Delivery de Comida - Quick Launch 🥘</a:t>
            </a:r>
          </a:p>
          <a:p>
            <a:endParaRPr lang="pt-BR" sz="2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CE23245B-4C57-D7B7-0BBD-DC4C92491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638" y="-851388"/>
            <a:ext cx="3574492" cy="35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72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C9D41E-EB1E-408B-4DB9-322756B3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pt-BR" dirty="0"/>
              <a:t>Grupo: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63CDF2C-5095-BD9D-6CA4-46CA96EB2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569510"/>
              </p:ext>
            </p:extLst>
          </p:nvPr>
        </p:nvGraphicFramePr>
        <p:xfrm>
          <a:off x="2623312" y="1425186"/>
          <a:ext cx="8844607" cy="4007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36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FCD0C0-AD49-B68F-0ACC-38925FA42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pt-BR" dirty="0"/>
              <a:t>Descrição Geral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4417A-787E-67DD-523D-A301A027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39" r="31116"/>
          <a:stretch/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A9761A-294E-2B14-E522-A487628F2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 projeto tem como objetivo desenvolver um MVP de um aplicativo de delivery de comida, com foco em </a:t>
            </a:r>
            <a:r>
              <a:rPr lang="pt-BR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usabilidade</a:t>
            </a:r>
            <a:r>
              <a:rPr lang="pt-B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pt-BR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simplicidade de navegação</a:t>
            </a:r>
            <a:r>
              <a:rPr lang="pt-B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</a:t>
            </a:r>
            <a:r>
              <a:rPr lang="pt-BR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responsividade</a:t>
            </a:r>
            <a:r>
              <a:rPr lang="pt-BR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usuários em dispositivos móveis e desktop. O app busca atender usuários que desejam encontrar e comprar refeições de maneira rápida, segura e prática.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554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77D72D-10B4-C43C-B8FF-E633AECE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/>
          </a:bodyPr>
          <a:lstStyle/>
          <a:p>
            <a:r>
              <a:rPr lang="pt-BR" b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Wireframes</a:t>
            </a:r>
            <a:endParaRPr lang="pt-BR"/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496A850A-A38F-8E2E-485F-9FE16CD06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2" y="861546"/>
            <a:ext cx="5134908" cy="513490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101A92-372B-0641-9040-C18B1A35F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lang="pt-B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imagens dos wireframes das principais telas estão representadas em anexo no material completo. As telas planejadas incluem: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Tela de Login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Tela de Cadastro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Página Inicial (listagem de restaurantes)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Página de Restaurante (detalhes e produtos e avaliação)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Carrinho de Compras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Confirmação de Pedido</a:t>
            </a:r>
            <a:br>
              <a:rPr lang="pt-BR" sz="1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91322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1150FD-18AC-4201-7AF6-31D824F7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170633"/>
            <a:ext cx="10890928" cy="971550"/>
          </a:xfrm>
        </p:spPr>
        <p:txBody>
          <a:bodyPr anchor="t">
            <a:normAutofit/>
          </a:bodyPr>
          <a:lstStyle/>
          <a:p>
            <a:r>
              <a:rPr lang="pt-BR" b="1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Protótipos de Alta Fidelidade</a:t>
            </a:r>
            <a:endParaRPr lang="pt-BR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57AA0EB-02D9-62DF-AEEC-D55D06972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43" y="1931318"/>
            <a:ext cx="6390953" cy="4249983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77A57B-95C4-7F7E-D01D-54579799B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lang="pt-BR" sz="17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telas de alta fidelidade foram desenvolvidas no Figma, respeitando os princípios de design e usabilidade com foco em: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7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Cores suaves e agradáveis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7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Ícones intuitivos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7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Layout limpo e bem-organizado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7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Componentes reutilizáveis</a:t>
            </a: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7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Navegação simples e responsiva</a:t>
            </a:r>
            <a:endParaRPr lang="pt-BR" sz="1700"/>
          </a:p>
          <a:p>
            <a:pPr marL="0" lvl="0" indent="0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pt-BR" sz="17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4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F95AD-541C-A88A-0387-C5C28D2F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 b="1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Protótipo HTML, CSS e JavaScript</a:t>
            </a:r>
            <a:endParaRPr lang="pt-BR" sz="3400" dirty="0"/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9FA57-05A8-31FF-F5C0-7DF46E94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Um protótipo funcional inicial foi desenvolvido com: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HTML: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Estrutura semântica das páginas principais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CSS: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Estilização responsiva (mobile-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Simulação básica de interações, como exibição do carrinho, login simulado, e confirmação de pedido</a:t>
            </a:r>
          </a:p>
        </p:txBody>
      </p:sp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45BB295-A103-8FA2-7279-B51F250E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" r="6786"/>
          <a:stretch/>
        </p:blipFill>
        <p:spPr>
          <a:xfrm>
            <a:off x="7155179" y="928754"/>
            <a:ext cx="4375829" cy="537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5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B18514-D7C6-385A-7D16-1F3F0C44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1031001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dirty="0">
                <a:effectLst/>
              </a:rPr>
              <a:t>Heurísticas de Usabilidade Aplicadas</a:t>
            </a:r>
            <a:endParaRPr lang="en-US" sz="4100" dirty="0"/>
          </a:p>
        </p:txBody>
      </p:sp>
      <p:pic>
        <p:nvPicPr>
          <p:cNvPr id="39" name="Imagem 38" descr="Diagrama, Texto&#10;&#10;O conteúdo gerado por IA pode estar incorreto.">
            <a:extLst>
              <a:ext uri="{FF2B5EF4-FFF2-40B4-BE49-F238E27FC236}">
                <a16:creationId xmlns:a16="http://schemas.microsoft.com/office/drawing/2014/main" id="{163B9C22-AF19-611E-369F-714AEB213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42" r="3284" b="12647"/>
          <a:stretch/>
        </p:blipFill>
        <p:spPr>
          <a:xfrm>
            <a:off x="3326058" y="762007"/>
            <a:ext cx="8193690" cy="475082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91021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245</Words>
  <Application>Microsoft Office PowerPoint</Application>
  <PresentationFormat>Widescreen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Grandview Display</vt:lpstr>
      <vt:lpstr>Neue Haas Grotesk Text Pro</vt:lpstr>
      <vt:lpstr>Symbol</vt:lpstr>
      <vt:lpstr>DashVTI</vt:lpstr>
      <vt:lpstr>Apresentação A3 – Usabilidade, Web, Mobile e jogos</vt:lpstr>
      <vt:lpstr>Grupo:</vt:lpstr>
      <vt:lpstr>Descrição Geral</vt:lpstr>
      <vt:lpstr>Wireframes</vt:lpstr>
      <vt:lpstr>Protótipos de Alta Fidelidade</vt:lpstr>
      <vt:lpstr>Protótipo HTML, CSS e JavaScript</vt:lpstr>
      <vt:lpstr>Heurísticas de Usabilidade Aplicadas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Bitencourt de Castro</dc:creator>
  <cp:lastModifiedBy>William Bitencourt de Castro</cp:lastModifiedBy>
  <cp:revision>1</cp:revision>
  <dcterms:created xsi:type="dcterms:W3CDTF">2025-05-12T23:53:16Z</dcterms:created>
  <dcterms:modified xsi:type="dcterms:W3CDTF">2025-05-13T00:38:02Z</dcterms:modified>
</cp:coreProperties>
</file>